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Class Distribution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Legitimate</c:v>
                  </c:pt>
                  <c:pt idx="1">
                    <c:v>Fraud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284315</c:v>
                </c:pt>
                <c:pt idx="1">
                  <c:v>492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F1 Score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95A5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5A5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498D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Logistic
Regression</c:v>
                  </c:pt>
                  <c:pt idx="1">
                    <c:v>XGBoost</c:v>
                  </c:pt>
                  <c:pt idx="2">
                    <c:v>Random
Forest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9.95</c:v>
                </c:pt>
                <c:pt idx="1">
                  <c:v>32.26</c:v>
                </c:pt>
                <c:pt idx="2">
                  <c:v>68.78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Financial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System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2212848"/>
            <a:ext cx="2286000" cy="3657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31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 | KIIT University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Mister T  |  Master of Science in Data Analysis  |  2024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1920240" cy="1188720"/>
          </a:xfrm>
          <a:prstGeom prst="rect">
            <a:avLst/>
          </a:prstGeom>
          <a:solidFill>
            <a:srgbClr val="162255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5204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284,807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4114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Transactions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51760" y="3474720"/>
            <a:ext cx="1920240" cy="1188720"/>
          </a:xfrm>
          <a:prstGeom prst="rect">
            <a:avLst/>
          </a:prstGeom>
          <a:solidFill>
            <a:srgbClr val="162255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35204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0.17%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51760" y="4114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Fraud Rate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3474720"/>
            <a:ext cx="1920240" cy="1188720"/>
          </a:xfrm>
          <a:prstGeom prst="rect">
            <a:avLst/>
          </a:prstGeom>
          <a:solidFill>
            <a:srgbClr val="162255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35204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97.95%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54880" y="4114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ROC AUC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0" y="3474720"/>
            <a:ext cx="1920240" cy="1188720"/>
          </a:xfrm>
          <a:prstGeom prst="rect">
            <a:avLst/>
          </a:prstGeom>
          <a:solidFill>
            <a:srgbClr val="162255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35204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80%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58000" y="4114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Recall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3657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2651760" cy="914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74C3C"/>
                </a:solidFill>
              </a:rPr>
              <a:t>$32B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Lost to credit card fraud globally each year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05840"/>
            <a:ext cx="265176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1887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</a:rPr>
              <a:t>0.17%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337560" y="2011680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Extreme class imbalance: fraud is rare but costly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100584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005840"/>
            <a:ext cx="265176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1887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</a:rPr>
              <a:t>48 hrs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172200" y="2011680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Dataset covers 284K transactions in 48 hours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0040" y="46634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</a:rPr>
              <a:t>Goal: Build a system that catches fraud without overwhelming legitimate customers.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Dataset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European cardholders, September 2013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1848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284,807 total transactions over 48 hours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09397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492 fraudulent (0.172%) vs 284,315 legitimate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56946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30 features: Time, V1-V28 (PCA), Amount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04495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V-features are PCA-transformed (confidential)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</a:rPr>
              <a:t>● 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</a:rPr>
              <a:t>1,081 duplicate rows removed during cleaning</a:t>
            </a:r>
            <a:endParaRPr lang="en-US" sz="13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303520" y="1051560"/>
          <a:ext cx="35661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Methodology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3657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502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14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9601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Data Cleaning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1480" y="14173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Remove 1,081 duplicates. Check nulls. Validate schema.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14400"/>
            <a:ext cx="502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914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49040" y="9601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Feature Engineering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291840" y="14173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StandardScaler on Amount + Time. Drop originals.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91440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914400"/>
            <a:ext cx="502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914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29400" y="9601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SMOTE Oversampling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172200" y="14173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Balance 0.17% fraud to 50% on training set only.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74320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743200"/>
            <a:ext cx="502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27889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80/20 Stratified Split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11480" y="32461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Preserve fraud ratio in both train and test sets.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274320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743200"/>
            <a:ext cx="502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749040" y="27889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Train 3 Models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291840" y="32461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Logistic Regression, Random Forest, XGBoost.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80760" y="274320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0760" y="2743200"/>
            <a:ext cx="5029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80760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629400" y="27889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Evaluate + Select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172200" y="32461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Compare F1, AUC, Recall. Save best model.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Model Comparison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2860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280160"/>
                <a:gridCol w="1097280"/>
                <a:gridCol w="1645920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Accuracy 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Precision 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Recall 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F1 %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ROC AUC 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Logistic Regression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97.35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5.27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87.37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9.95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96.31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XGBoost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99.41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19.95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84.21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32.26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</a:rPr>
                        <a:t>97.26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5724"/>
                          </a:solidFill>
                        </a:rPr>
                        <a:t>Random Forest 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5724"/>
                          </a:solidFill>
                        </a:rPr>
                        <a:t>99.88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5724"/>
                          </a:solidFill>
                        </a:rPr>
                        <a:t>60.32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5724"/>
                          </a:solidFill>
                        </a:rPr>
                        <a:t>80.00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5724"/>
                          </a:solidFill>
                        </a:rPr>
                        <a:t>68.78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5724"/>
                          </a:solidFill>
                        </a:rPr>
                        <a:t>97.95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520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Random Forest selected as best model (highest F1 Score at 68.78%)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</a:rPr>
              <a:t>Why F1 matters: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In fraud detection, false negatives (missed fraud) are expensive. F1 balances precision and recall better than accuracy on imbalanced data.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669280" y="1051560"/>
          <a:ext cx="32004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Final Model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3657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2296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3E50"/>
                </a:solidFill>
              </a:rPr>
              <a:t>Random Forest Classifier (SMOTE-balanced)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80160"/>
            <a:ext cx="201168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630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97.95%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5760" y="21762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ROC AUC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14600" y="128016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280160"/>
            <a:ext cx="2011680" cy="914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4630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74C3C"/>
                </a:solidFill>
              </a:rPr>
              <a:t>68.78%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14600" y="21762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F1 Score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28016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280160"/>
            <a:ext cx="201168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4630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</a:rPr>
              <a:t>80.00%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663440" y="21762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Recall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12280" y="128016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12280" y="1280160"/>
            <a:ext cx="2011680" cy="914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14630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E44AD"/>
                </a:solidFill>
              </a:rPr>
              <a:t>60.32%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812280" y="21762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Precision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2999232"/>
            <a:ext cx="8412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063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Confusion Matrix Results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29000"/>
          <a:ext cx="82296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971800"/>
                <a:gridCol w="2971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Predicted Legit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Predicted Fraud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4C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Actual Legit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56,580 (TN)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241 (FP)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Actual Fraud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19 (FN)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76 (TP)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Streamlit Application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658368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43584"/>
            <a:ext cx="77724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43584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HOME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463040" y="1143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Home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41732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Project overview, model metrics, EDA charts, evaluation plots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47088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993392"/>
            <a:ext cx="777240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99339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DETECT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463040" y="18928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Fraud Detection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63040" y="216712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Manual form + CSV batch upload with confidence gauge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596896"/>
            <a:ext cx="8229600" cy="658368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743200"/>
            <a:ext cx="77724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7432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DASH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463040" y="264261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Dashboard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63040" y="2916936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Plotly charts: pie, histogram, daily trends, scatter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46704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493008"/>
            <a:ext cx="777240" cy="3657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493008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HISTORY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463040" y="339242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History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63040" y="3666744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SQLite prediction log with filter, sort, CSV export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096512"/>
            <a:ext cx="8229600" cy="658368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242816"/>
            <a:ext cx="777240" cy="3657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24281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RETRAIN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463040" y="41422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Retraining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63040" y="4416552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Workflow documentation + new data upload interface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Tech: Streamlit  |  Plotly  |  SQLite  |  Joblib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Deployment &amp;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8503920" cy="3657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114300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creditcard.csv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463040" y="1303020"/>
            <a:ext cx="82296" cy="0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45336" y="1005840"/>
            <a:ext cx="1143000" cy="594360"/>
          </a:xfrm>
          <a:prstGeom prst="roundRect">
            <a:avLst>
              <a:gd name="adj" fmla="val 1230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45336" y="1005840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Data Cleaning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88336" y="1303020"/>
            <a:ext cx="82296" cy="0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70632" y="1005840"/>
            <a:ext cx="1143000" cy="594360"/>
          </a:xfrm>
          <a:prstGeom prst="roundRect">
            <a:avLst>
              <a:gd name="adj" fmla="val 12308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70632" y="1005840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SMOTE + Split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913632" y="1303020"/>
            <a:ext cx="82296" cy="0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95928" y="1005840"/>
            <a:ext cx="1143000" cy="594360"/>
          </a:xfrm>
          <a:prstGeom prst="roundRect">
            <a:avLst>
              <a:gd name="adj" fmla="val 12308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95928" y="1005840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Model Training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138928" y="1303020"/>
            <a:ext cx="82296" cy="0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21224" y="1005840"/>
            <a:ext cx="1143000" cy="594360"/>
          </a:xfrm>
          <a:prstGeom prst="roundRect">
            <a:avLst>
              <a:gd name="adj" fmla="val 12308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21224" y="1005840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fraud_model.pkl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364224" y="1303020"/>
            <a:ext cx="82296" cy="0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1005840"/>
            <a:ext cx="1143000" cy="594360"/>
          </a:xfrm>
          <a:prstGeom prst="roundRect">
            <a:avLst>
              <a:gd name="adj" fmla="val 12308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005840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Streamlit App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589520" y="1303020"/>
            <a:ext cx="82296" cy="0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71816" y="1005840"/>
            <a:ext cx="1143000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71816" y="1005840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Streamlit Cloud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1874520"/>
            <a:ext cx="40233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19202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Project Structure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233172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             — Streamlit application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266090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train_models2.py  — ML pipeline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299008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  — Dependencies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" y="331927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models/           — fraud_model.pkl, scaler.pkl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" y="3648456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database/         — fraud.db (SQLite)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2920" y="397764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reports/          — EDA + evaluation charts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2920" y="430682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             — cleaned_creditcard.csv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0" y="1874520"/>
            <a:ext cx="42519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19202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Deploy to Streamlit Cloud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754880" y="2331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1. Push project to GitHub repository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54880" y="26791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2. Visit share.streamlit.io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54880" y="302666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3. Connect GitHub account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54880" y="337413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4. Select repo + set main: app.py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54880" y="372160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5. Click Deploy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754880" y="4069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6. Access at: https://your-app.streamlit.app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Monitoring &amp; Retraining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374904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1556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Live Dashboard Metrics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72768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✅  Total predictions count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066544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🔴  Fraud predictions + 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🟢  Legitimate predictions + 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054096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📈  Daily prediction trend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547872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💰  Amount vs fraud probability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041648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</a:rPr>
              <a:t>📊  Model comparison bar chart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4023360" cy="3749040"/>
          </a:xfrm>
          <a:prstGeom prst="rect">
            <a:avLst/>
          </a:prstGeom>
          <a:solidFill>
            <a:srgbClr val="F4F6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11556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Retraining Triggers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37760" y="1572768"/>
            <a:ext cx="3566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160934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</a:rPr>
              <a:t>Recall &lt; 75%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4920" y="184708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Immediate retrain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2194560"/>
            <a:ext cx="3566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22311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</a:rPr>
              <a:t>Feature drift &gt; 10%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4920" y="24688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Scheduled retrain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2816352"/>
            <a:ext cx="3566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28529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</a:rPr>
              <a:t>10,000 new records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74920" y="309067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Weekly retrain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0" y="3438144"/>
            <a:ext cx="35661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34747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</a:rPr>
              <a:t>F1 drops 5+ points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74920" y="371246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Alert + retrain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41148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761"/>
                </a:solidFill>
              </a:rPr>
              <a:t>New Data → Clean → SMOTE → Train → Compare → Deploy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877824"/>
            <a:ext cx="2743200" cy="3657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51560"/>
            <a:ext cx="8046720" cy="621792"/>
          </a:xfrm>
          <a:prstGeom prst="rect">
            <a:avLst/>
          </a:prstGeom>
          <a:solidFill>
            <a:srgbClr val="162255"/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51560"/>
            <a:ext cx="548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34440" y="1051560"/>
            <a:ext cx="7223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SMOTE is critical for imbalanced fraud detection. Accuracy is misleading.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746504"/>
            <a:ext cx="8046720" cy="621792"/>
          </a:xfrm>
          <a:prstGeom prst="rect">
            <a:avLst/>
          </a:prstGeom>
          <a:solidFill>
            <a:srgbClr val="162255"/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46504"/>
            <a:ext cx="548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34440" y="1746504"/>
            <a:ext cx="7223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Random Forest delivers best F1 (68.78%) and AUC (97.95%) on this dataset.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441448"/>
            <a:ext cx="8046720" cy="621792"/>
          </a:xfrm>
          <a:prstGeom prst="rect">
            <a:avLst/>
          </a:prstGeom>
          <a:solidFill>
            <a:srgbClr val="162255"/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441448"/>
            <a:ext cx="548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34440" y="2441448"/>
            <a:ext cx="7223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Streamlit enables rapid deployment of ML models as web applications.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136392"/>
            <a:ext cx="8046720" cy="621792"/>
          </a:xfrm>
          <a:prstGeom prst="rect">
            <a:avLst/>
          </a:prstGeom>
          <a:solidFill>
            <a:srgbClr val="162255"/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136392"/>
            <a:ext cx="548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34440" y="3136392"/>
            <a:ext cx="7223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SQLite provides audit trails essential for production financial systems.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831336"/>
            <a:ext cx="8046720" cy="621792"/>
          </a:xfrm>
          <a:prstGeom prst="rect">
            <a:avLst/>
          </a:prstGeom>
          <a:solidFill>
            <a:srgbClr val="162255"/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831336"/>
            <a:ext cx="548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34440" y="3831336"/>
            <a:ext cx="7223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A defined retraining strategy keeps the model current as fraud patterns evolve.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Mister T  |  KIIT University  |  Master of Science in Data Analysis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Financial Fraud Detection System</dc:title>
  <dc:subject>PptxGenJS Presentation</dc:subject>
  <dc:creator>Mister T</dc:creator>
  <cp:lastModifiedBy>Mister T</cp:lastModifiedBy>
  <cp:revision>1</cp:revision>
  <dcterms:created xsi:type="dcterms:W3CDTF">2026-06-03T13:31:28Z</dcterms:created>
  <dcterms:modified xsi:type="dcterms:W3CDTF">2026-06-03T13:31:28Z</dcterms:modified>
</cp:coreProperties>
</file>